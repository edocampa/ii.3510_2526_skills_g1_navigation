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rchivo Black" panose="020B0604020202020204" charset="0"/>
      <p:regular r:id="rId17"/>
    </p:embeddedFont>
    <p:embeddedFont>
      <p:font typeface="Garet" panose="020B0604020202020204" charset="0"/>
      <p:regular r:id="rId18"/>
    </p:embeddedFont>
    <p:embeddedFont>
      <p:font typeface="Garet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hyperlink" Target="https://github.com/Edocampa/II.3510_2526_Skills_G1_Navigation.git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5379298" y="8311463"/>
            <a:ext cx="1880002" cy="946837"/>
          </a:xfrm>
          <a:custGeom>
            <a:avLst/>
            <a:gdLst/>
            <a:ahLst/>
            <a:cxnLst/>
            <a:rect l="l" t="t" r="r" b="b"/>
            <a:pathLst>
              <a:path w="1880002" h="946837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028700" y="1028700"/>
            <a:ext cx="797433" cy="707541"/>
          </a:xfrm>
          <a:custGeom>
            <a:avLst/>
            <a:gdLst/>
            <a:ahLst/>
            <a:cxnLst/>
            <a:rect l="l" t="t" r="r" b="b"/>
            <a:pathLst>
              <a:path w="797433" h="707541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7885470" y="5732997"/>
            <a:ext cx="9373830" cy="37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Drawer, Tabs and Sliding Menus (Header &amp;&amp; Footer)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410532"/>
            <a:ext cx="4193518" cy="40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1"/>
              </a:lnSpc>
              <a:spcBef>
                <a:spcPct val="0"/>
              </a:spcBef>
            </a:pPr>
            <a:r>
              <a:rPr lang="en-US" sz="2493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853438"/>
            <a:ext cx="4193518" cy="81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493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Jacopo Maria Barile</a:t>
            </a:r>
          </a:p>
          <a:p>
            <a:pPr marL="0" lvl="0" indent="0" algn="l">
              <a:lnSpc>
                <a:spcPts val="3241"/>
              </a:lnSpc>
              <a:spcBef>
                <a:spcPct val="0"/>
              </a:spcBef>
            </a:pPr>
            <a:r>
              <a:rPr lang="en-US" sz="2493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Edoardo Campanella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85854" y="3950633"/>
            <a:ext cx="10773446" cy="1228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NAVIGATION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9297642" y="1559650"/>
          <a:ext cx="4977994" cy="7167699"/>
        </p:xfrm>
        <a:graphic>
          <a:graphicData uri="http://schemas.openxmlformats.org/drawingml/2006/table">
            <a:tbl>
              <a:tblPr/>
              <a:tblGrid>
                <a:gridCol w="2488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8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9364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Tabs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1513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Drawers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806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Sliding Menus (Header &amp;&amp; Footer)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4697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Demo Application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333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Tests - Q&amp;A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727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Practice Exercises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-706637" y="1559650"/>
            <a:ext cx="9125543" cy="7167700"/>
          </a:xfrm>
          <a:custGeom>
            <a:avLst/>
            <a:gdLst/>
            <a:ahLst/>
            <a:cxnLst/>
            <a:rect l="l" t="t" r="r" b="b"/>
            <a:pathLst>
              <a:path w="9125543" h="7167700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1604641" y="2439692"/>
            <a:ext cx="6531462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Agenda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 rot="-10800000">
            <a:off x="11159450" y="-140976"/>
            <a:ext cx="2405530" cy="3790950"/>
          </a:xfrm>
          <a:custGeom>
            <a:avLst/>
            <a:gdLst/>
            <a:ahLst/>
            <a:cxnLst/>
            <a:rect l="l" t="t" r="r" b="b"/>
            <a:pathLst>
              <a:path w="2405530" h="3790950">
                <a:moveTo>
                  <a:pt x="0" y="0"/>
                </a:moveTo>
                <a:lnTo>
                  <a:pt x="2405530" y="0"/>
                </a:lnTo>
                <a:lnTo>
                  <a:pt x="2405530" y="3790950"/>
                </a:lnTo>
                <a:lnTo>
                  <a:pt x="0" y="37909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1028700" y="1557564"/>
            <a:ext cx="7279037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Tabs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382445" y="981075"/>
            <a:ext cx="287685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840190"/>
            <a:ext cx="10130750" cy="90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Organize content into separate sections within the same screen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211954"/>
            <a:ext cx="10867282" cy="4741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Used for navigation within a single screen, allowing users to switch between different content sections. </a:t>
            </a: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Each tab is represented by a Tab composable, which can include text, icons or both.</a:t>
            </a: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Tab contents could be managed with a navHostController to swap entire screen composables based on the selected tab's route.</a:t>
            </a: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1094321" y="2484203"/>
            <a:ext cx="4004438" cy="7627500"/>
          </a:xfrm>
          <a:custGeom>
            <a:avLst/>
            <a:gdLst/>
            <a:ahLst/>
            <a:cxnLst/>
            <a:rect l="l" t="t" r="r" b="b"/>
            <a:pathLst>
              <a:path w="4004438" h="7627500">
                <a:moveTo>
                  <a:pt x="0" y="0"/>
                </a:moveTo>
                <a:lnTo>
                  <a:pt x="4004438" y="0"/>
                </a:lnTo>
                <a:lnTo>
                  <a:pt x="4004438" y="7627500"/>
                </a:lnTo>
                <a:lnTo>
                  <a:pt x="0" y="7627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2115141" y="2484203"/>
            <a:ext cx="3926156" cy="7583403"/>
          </a:xfrm>
          <a:custGeom>
            <a:avLst/>
            <a:gdLst/>
            <a:ahLst/>
            <a:cxnLst/>
            <a:rect l="l" t="t" r="r" b="b"/>
            <a:pathLst>
              <a:path w="3926156" h="7583403">
                <a:moveTo>
                  <a:pt x="0" y="0"/>
                </a:moveTo>
                <a:lnTo>
                  <a:pt x="3926156" y="0"/>
                </a:lnTo>
                <a:lnTo>
                  <a:pt x="3926156" y="7583403"/>
                </a:lnTo>
                <a:lnTo>
                  <a:pt x="0" y="7583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546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1028700" y="683473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Example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75831" y="1803838"/>
            <a:ext cx="3404777" cy="51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3"/>
              </a:lnSpc>
              <a:spcBef>
                <a:spcPct val="0"/>
              </a:spcBef>
            </a:pPr>
            <a:r>
              <a:rPr lang="en-US" sz="3045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Spotify UI Tabs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35693" y="1803838"/>
            <a:ext cx="3663066" cy="481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Instagram UI Tabs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 rot="-10800000">
            <a:off x="11159450" y="-140976"/>
            <a:ext cx="2405530" cy="3790950"/>
          </a:xfrm>
          <a:custGeom>
            <a:avLst/>
            <a:gdLst/>
            <a:ahLst/>
            <a:cxnLst/>
            <a:rect l="l" t="t" r="r" b="b"/>
            <a:pathLst>
              <a:path w="2405530" h="3790950">
                <a:moveTo>
                  <a:pt x="0" y="0"/>
                </a:moveTo>
                <a:lnTo>
                  <a:pt x="2405530" y="0"/>
                </a:lnTo>
                <a:lnTo>
                  <a:pt x="2405530" y="3790950"/>
                </a:lnTo>
                <a:lnTo>
                  <a:pt x="0" y="37909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1028700" y="1557564"/>
            <a:ext cx="7279037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Drawers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382445" y="981075"/>
            <a:ext cx="287685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840190"/>
            <a:ext cx="8823356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Sliding panels for navigation and options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211954"/>
            <a:ext cx="10867282" cy="4265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Menu components that allow to navigate inside the app </a:t>
            </a: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Activated by swiping from the side of the screen or by tapping a menu icon</a:t>
            </a: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 types: </a:t>
            </a: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Standard Drawers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and </a:t>
            </a: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Modal Drawers</a:t>
            </a:r>
          </a:p>
          <a:p>
            <a:pPr algn="l">
              <a:lnSpc>
                <a:spcPts val="3779"/>
              </a:lnSpc>
            </a:pPr>
            <a:endParaRPr lang="en-US" sz="26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Several personalization options: scrollable, add icon, add sections, etc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765880" y="2880731"/>
            <a:ext cx="4673433" cy="8264132"/>
          </a:xfrm>
          <a:custGeom>
            <a:avLst/>
            <a:gdLst/>
            <a:ahLst/>
            <a:cxnLst/>
            <a:rect l="l" t="t" r="r" b="b"/>
            <a:pathLst>
              <a:path w="4673433" h="8264132">
                <a:moveTo>
                  <a:pt x="0" y="0"/>
                </a:moveTo>
                <a:lnTo>
                  <a:pt x="4673433" y="0"/>
                </a:lnTo>
                <a:lnTo>
                  <a:pt x="4673433" y="8264132"/>
                </a:lnTo>
                <a:lnTo>
                  <a:pt x="0" y="82641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0884513" y="2880731"/>
            <a:ext cx="4616068" cy="8135141"/>
          </a:xfrm>
          <a:custGeom>
            <a:avLst/>
            <a:gdLst/>
            <a:ahLst/>
            <a:cxnLst/>
            <a:rect l="l" t="t" r="r" b="b"/>
            <a:pathLst>
              <a:path w="4616068" h="8135141">
                <a:moveTo>
                  <a:pt x="0" y="0"/>
                </a:moveTo>
                <a:lnTo>
                  <a:pt x="4616068" y="0"/>
                </a:lnTo>
                <a:lnTo>
                  <a:pt x="4616068" y="8135141"/>
                </a:lnTo>
                <a:lnTo>
                  <a:pt x="0" y="81351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1028700" y="683473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Example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21088" y="2023232"/>
            <a:ext cx="3346311" cy="481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Standard Drawer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96372" y="2023232"/>
            <a:ext cx="2886427" cy="481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Modal Drawer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 rot="-10800000">
            <a:off x="11159450" y="-140976"/>
            <a:ext cx="2405530" cy="3790950"/>
          </a:xfrm>
          <a:custGeom>
            <a:avLst/>
            <a:gdLst/>
            <a:ahLst/>
            <a:cxnLst/>
            <a:rect l="l" t="t" r="r" b="b"/>
            <a:pathLst>
              <a:path w="2405530" h="3790950">
                <a:moveTo>
                  <a:pt x="0" y="0"/>
                </a:moveTo>
                <a:lnTo>
                  <a:pt x="2405530" y="0"/>
                </a:lnTo>
                <a:lnTo>
                  <a:pt x="2405530" y="3790950"/>
                </a:lnTo>
                <a:lnTo>
                  <a:pt x="0" y="37909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1028700" y="860215"/>
            <a:ext cx="9936140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Sliding Menus (Header &amp;&amp; Footer)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382445" y="981075"/>
            <a:ext cx="287685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782564"/>
            <a:ext cx="8823356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Quick access to top and bottom options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888099"/>
            <a:ext cx="11723549" cy="4741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Header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provides page identity and global context (at the top)</a:t>
            </a: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Hosts primary branding, primary navigation and user account access</a:t>
            </a: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Footer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provides supporting context and meta-information 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(at the bottom)</a:t>
            </a: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Hosts secondary navigation, legal links, policies and support info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980206" y="1908664"/>
            <a:ext cx="4028364" cy="8110801"/>
          </a:xfrm>
          <a:custGeom>
            <a:avLst/>
            <a:gdLst/>
            <a:ahLst/>
            <a:cxnLst/>
            <a:rect l="l" t="t" r="r" b="b"/>
            <a:pathLst>
              <a:path w="4028364" h="8110801">
                <a:moveTo>
                  <a:pt x="0" y="0"/>
                </a:moveTo>
                <a:lnTo>
                  <a:pt x="4028364" y="0"/>
                </a:lnTo>
                <a:lnTo>
                  <a:pt x="4028364" y="8110801"/>
                </a:lnTo>
                <a:lnTo>
                  <a:pt x="0" y="8110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8948830" y="1814199"/>
            <a:ext cx="5919517" cy="3106388"/>
          </a:xfrm>
          <a:custGeom>
            <a:avLst/>
            <a:gdLst/>
            <a:ahLst/>
            <a:cxnLst/>
            <a:rect l="l" t="t" r="r" b="b"/>
            <a:pathLst>
              <a:path w="5919517" h="3106388">
                <a:moveTo>
                  <a:pt x="0" y="0"/>
                </a:moveTo>
                <a:lnTo>
                  <a:pt x="5919517" y="0"/>
                </a:lnTo>
                <a:lnTo>
                  <a:pt x="5919517" y="3106389"/>
                </a:lnTo>
                <a:lnTo>
                  <a:pt x="0" y="31063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537" t="-3983" r="-1602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8948830" y="6793284"/>
            <a:ext cx="5919517" cy="2465016"/>
          </a:xfrm>
          <a:custGeom>
            <a:avLst/>
            <a:gdLst/>
            <a:ahLst/>
            <a:cxnLst/>
            <a:rect l="l" t="t" r="r" b="b"/>
            <a:pathLst>
              <a:path w="5919517" h="2465016">
                <a:moveTo>
                  <a:pt x="0" y="0"/>
                </a:moveTo>
                <a:lnTo>
                  <a:pt x="5919517" y="0"/>
                </a:lnTo>
                <a:lnTo>
                  <a:pt x="5919517" y="2465016"/>
                </a:lnTo>
                <a:lnTo>
                  <a:pt x="0" y="24650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04" r="-13655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1028700" y="683473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Example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24454" y="987847"/>
            <a:ext cx="1577145" cy="481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Header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00774" y="5906914"/>
            <a:ext cx="1348426" cy="481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Footer</a:t>
            </a: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2387716" y="2330391"/>
            <a:ext cx="3308484" cy="7658100"/>
          </a:xfrm>
          <a:custGeom>
            <a:avLst/>
            <a:gdLst/>
            <a:ahLst/>
            <a:cxnLst/>
            <a:rect l="l" t="t" r="r" b="b"/>
            <a:pathLst>
              <a:path w="3308484" h="7658100">
                <a:moveTo>
                  <a:pt x="0" y="0"/>
                </a:moveTo>
                <a:lnTo>
                  <a:pt x="3308484" y="0"/>
                </a:lnTo>
                <a:lnTo>
                  <a:pt x="3308484" y="7658100"/>
                </a:lnTo>
                <a:lnTo>
                  <a:pt x="0" y="7658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98" t="-3714" r="-8232" b="-3969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7458325" y="2330391"/>
            <a:ext cx="3371350" cy="7658100"/>
          </a:xfrm>
          <a:custGeom>
            <a:avLst/>
            <a:gdLst/>
            <a:ahLst/>
            <a:cxnLst/>
            <a:rect l="l" t="t" r="r" b="b"/>
            <a:pathLst>
              <a:path w="3371350" h="7658100">
                <a:moveTo>
                  <a:pt x="0" y="0"/>
                </a:moveTo>
                <a:lnTo>
                  <a:pt x="3371350" y="0"/>
                </a:lnTo>
                <a:lnTo>
                  <a:pt x="3371350" y="7658100"/>
                </a:lnTo>
                <a:lnTo>
                  <a:pt x="0" y="7658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97" t="-3500" r="-10043" b="-3415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2592478" y="2330391"/>
            <a:ext cx="3402485" cy="7658100"/>
          </a:xfrm>
          <a:custGeom>
            <a:avLst/>
            <a:gdLst/>
            <a:ahLst/>
            <a:cxnLst/>
            <a:rect l="l" t="t" r="r" b="b"/>
            <a:pathLst>
              <a:path w="3402485" h="7658100">
                <a:moveTo>
                  <a:pt x="0" y="0"/>
                </a:moveTo>
                <a:lnTo>
                  <a:pt x="3402485" y="0"/>
                </a:lnTo>
                <a:lnTo>
                  <a:pt x="3402485" y="7658100"/>
                </a:lnTo>
                <a:lnTo>
                  <a:pt x="0" y="76581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1367749" y="597218"/>
            <a:ext cx="12925971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Demo Application-Tabs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47818" y="981075"/>
            <a:ext cx="37114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9</a:t>
            </a: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67749" y="2250530"/>
            <a:ext cx="3543409" cy="8036470"/>
          </a:xfrm>
          <a:custGeom>
            <a:avLst/>
            <a:gdLst/>
            <a:ahLst/>
            <a:cxnLst/>
            <a:rect l="l" t="t" r="r" b="b"/>
            <a:pathLst>
              <a:path w="3543409" h="8036470">
                <a:moveTo>
                  <a:pt x="0" y="0"/>
                </a:moveTo>
                <a:lnTo>
                  <a:pt x="3543409" y="0"/>
                </a:lnTo>
                <a:lnTo>
                  <a:pt x="3543409" y="8036470"/>
                </a:lnTo>
                <a:lnTo>
                  <a:pt x="0" y="803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13" r="-1313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6675044" y="2250530"/>
            <a:ext cx="10264013" cy="3059078"/>
          </a:xfrm>
          <a:custGeom>
            <a:avLst/>
            <a:gdLst/>
            <a:ahLst/>
            <a:cxnLst/>
            <a:rect l="l" t="t" r="r" b="b"/>
            <a:pathLst>
              <a:path w="10264013" h="3059078">
                <a:moveTo>
                  <a:pt x="0" y="0"/>
                </a:moveTo>
                <a:lnTo>
                  <a:pt x="10264012" y="0"/>
                </a:lnTo>
                <a:lnTo>
                  <a:pt x="10264012" y="3059078"/>
                </a:lnTo>
                <a:lnTo>
                  <a:pt x="0" y="30590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6699426" y="6268765"/>
            <a:ext cx="10239631" cy="3941445"/>
          </a:xfrm>
          <a:custGeom>
            <a:avLst/>
            <a:gdLst/>
            <a:ahLst/>
            <a:cxnLst/>
            <a:rect l="l" t="t" r="r" b="b"/>
            <a:pathLst>
              <a:path w="10239631" h="3941445">
                <a:moveTo>
                  <a:pt x="0" y="0"/>
                </a:moveTo>
                <a:lnTo>
                  <a:pt x="10239630" y="0"/>
                </a:lnTo>
                <a:lnTo>
                  <a:pt x="10239630" y="3941445"/>
                </a:lnTo>
                <a:lnTo>
                  <a:pt x="0" y="39414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1367749" y="25718"/>
            <a:ext cx="16448070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Demo Application-Drawer,Header &amp; Footer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47818" y="981075"/>
            <a:ext cx="37114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1028700" y="1162887"/>
            <a:ext cx="6306358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Quiz Time - Tabs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2521664"/>
            <a:ext cx="8115300" cy="3246939"/>
            <a:chOff x="0" y="0"/>
            <a:chExt cx="10820400" cy="4329252"/>
          </a:xfrm>
        </p:grpSpPr>
        <p:sp>
          <p:nvSpPr>
            <p:cNvPr id="8" name="TextBox 8"/>
            <p:cNvSpPr txBox="1"/>
            <p:nvPr/>
          </p:nvSpPr>
          <p:spPr>
            <a:xfrm>
              <a:off x="0" y="-28575"/>
              <a:ext cx="10820400" cy="13039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48"/>
                </a:lnSpc>
                <a:spcBef>
                  <a:spcPct val="0"/>
                </a:spcBef>
              </a:pPr>
              <a:r>
                <a:rPr lang="en-US" sz="303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1. What is the primary purpose of Tabs in a UI?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424144"/>
              <a:ext cx="10820400" cy="2905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A) To display ads at the bottom of the screen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B) To organize content into separate, switchable sections on the same screen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C) To open a side navigation panel</a:t>
              </a:r>
            </a:p>
            <a:p>
              <a:pPr marL="0" lvl="0" indent="0" algn="l">
                <a:lnSpc>
                  <a:spcPts val="3474"/>
                </a:lnSpc>
                <a:spcBef>
                  <a:spcPct val="0"/>
                </a:spcBef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D) To show loading indicators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80238" y="4537493"/>
            <a:ext cx="7879062" cy="3304794"/>
            <a:chOff x="0" y="0"/>
            <a:chExt cx="10505416" cy="4406391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28575"/>
              <a:ext cx="10505416" cy="19673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48"/>
                </a:lnSpc>
                <a:spcBef>
                  <a:spcPct val="0"/>
                </a:spcBef>
              </a:pPr>
              <a:r>
                <a:rPr lang="en-US" sz="303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2. Which Jetpack Compose component is commonly used to layout multiple tabs?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087546"/>
              <a:ext cx="10505416" cy="2318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A) Column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B) PrimaryTabRow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C) DrawerSheet</a:t>
              </a:r>
            </a:p>
            <a:p>
              <a:pPr marL="0" lvl="0" indent="0" algn="l">
                <a:lnSpc>
                  <a:spcPts val="3474"/>
                </a:lnSpc>
                <a:spcBef>
                  <a:spcPct val="0"/>
                </a:spcBef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D) ScaffoldMask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476151" y="4185034"/>
            <a:ext cx="314424" cy="352459"/>
          </a:xfrm>
          <a:custGeom>
            <a:avLst/>
            <a:gdLst/>
            <a:ahLst/>
            <a:cxnLst/>
            <a:rect l="l" t="t" r="r" b="b"/>
            <a:pathLst>
              <a:path w="314424" h="352459">
                <a:moveTo>
                  <a:pt x="0" y="0"/>
                </a:moveTo>
                <a:lnTo>
                  <a:pt x="314424" y="0"/>
                </a:lnTo>
                <a:lnTo>
                  <a:pt x="314424" y="352459"/>
                </a:lnTo>
                <a:lnTo>
                  <a:pt x="0" y="352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Freeform 14"/>
          <p:cNvSpPr/>
          <p:nvPr/>
        </p:nvSpPr>
        <p:spPr>
          <a:xfrm>
            <a:off x="8829576" y="6582843"/>
            <a:ext cx="314424" cy="352459"/>
          </a:xfrm>
          <a:custGeom>
            <a:avLst/>
            <a:gdLst/>
            <a:ahLst/>
            <a:cxnLst/>
            <a:rect l="l" t="t" r="r" b="b"/>
            <a:pathLst>
              <a:path w="314424" h="352459">
                <a:moveTo>
                  <a:pt x="0" y="0"/>
                </a:moveTo>
                <a:lnTo>
                  <a:pt x="314424" y="0"/>
                </a:lnTo>
                <a:lnTo>
                  <a:pt x="314424" y="352459"/>
                </a:lnTo>
                <a:lnTo>
                  <a:pt x="0" y="352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466680" y="4510790"/>
            <a:ext cx="314424" cy="352459"/>
          </a:xfrm>
          <a:custGeom>
            <a:avLst/>
            <a:gdLst/>
            <a:ahLst/>
            <a:cxnLst/>
            <a:rect l="l" t="t" r="r" b="b"/>
            <a:pathLst>
              <a:path w="314424" h="352459">
                <a:moveTo>
                  <a:pt x="0" y="0"/>
                </a:moveTo>
                <a:lnTo>
                  <a:pt x="314424" y="0"/>
                </a:lnTo>
                <a:lnTo>
                  <a:pt x="314424" y="352460"/>
                </a:lnTo>
                <a:lnTo>
                  <a:pt x="0" y="35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1028700" y="1162887"/>
            <a:ext cx="7208359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Quiz Time -Drawer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12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2521664"/>
            <a:ext cx="8115300" cy="3246939"/>
            <a:chOff x="0" y="0"/>
            <a:chExt cx="10820400" cy="4329252"/>
          </a:xfrm>
        </p:grpSpPr>
        <p:sp>
          <p:nvSpPr>
            <p:cNvPr id="9" name="TextBox 9"/>
            <p:cNvSpPr txBox="1"/>
            <p:nvPr/>
          </p:nvSpPr>
          <p:spPr>
            <a:xfrm>
              <a:off x="0" y="-28575"/>
              <a:ext cx="10820400" cy="13039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48"/>
                </a:lnSpc>
                <a:spcBef>
                  <a:spcPct val="0"/>
                </a:spcBef>
              </a:pPr>
              <a:r>
                <a:rPr lang="en-US" sz="303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3. A Drawer in Jetpack Compose is mostly used for: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424144"/>
              <a:ext cx="10820400" cy="2905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A) Switching keyboard layouts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B) Quick tooltips 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C) Navigation to app-wide destinations from a hidden side panel</a:t>
              </a:r>
            </a:p>
            <a:p>
              <a:pPr marL="0" lvl="0" indent="0" algn="l">
                <a:lnSpc>
                  <a:spcPts val="3474"/>
                </a:lnSpc>
                <a:spcBef>
                  <a:spcPct val="0"/>
                </a:spcBef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D) Displaying in-app notifications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80238" y="5143500"/>
            <a:ext cx="8707883" cy="2802738"/>
            <a:chOff x="0" y="0"/>
            <a:chExt cx="11610510" cy="3736984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28575"/>
              <a:ext cx="11610510" cy="12979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48"/>
                </a:lnSpc>
                <a:spcBef>
                  <a:spcPct val="0"/>
                </a:spcBef>
              </a:pPr>
              <a:r>
                <a:rPr lang="en-US" sz="303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4. Which component is used to create a Navigation Drawer in Jetpack Compose?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418139"/>
              <a:ext cx="11610510" cy="2318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A) ModalNavigationDrawer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B) DrawerLayout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C) NavigationDrawer</a:t>
              </a:r>
            </a:p>
            <a:p>
              <a:pPr marL="0" lvl="0" indent="0" algn="l">
                <a:lnSpc>
                  <a:spcPts val="3474"/>
                </a:lnSpc>
                <a:spcBef>
                  <a:spcPct val="0"/>
                </a:spcBef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D) Scaffold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8829576" y="6194661"/>
            <a:ext cx="314424" cy="352459"/>
          </a:xfrm>
          <a:custGeom>
            <a:avLst/>
            <a:gdLst/>
            <a:ahLst/>
            <a:cxnLst/>
            <a:rect l="l" t="t" r="r" b="b"/>
            <a:pathLst>
              <a:path w="314424" h="352459">
                <a:moveTo>
                  <a:pt x="0" y="0"/>
                </a:moveTo>
                <a:lnTo>
                  <a:pt x="314424" y="0"/>
                </a:lnTo>
                <a:lnTo>
                  <a:pt x="314424" y="352460"/>
                </a:lnTo>
                <a:lnTo>
                  <a:pt x="0" y="35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1028700" y="1162887"/>
            <a:ext cx="1171836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Quiz Time - Header &amp; Footer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13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2521664"/>
            <a:ext cx="8115300" cy="3628781"/>
            <a:chOff x="0" y="0"/>
            <a:chExt cx="10820400" cy="4838374"/>
          </a:xfrm>
        </p:grpSpPr>
        <p:sp>
          <p:nvSpPr>
            <p:cNvPr id="8" name="TextBox 8"/>
            <p:cNvSpPr txBox="1"/>
            <p:nvPr/>
          </p:nvSpPr>
          <p:spPr>
            <a:xfrm>
              <a:off x="0" y="-28575"/>
              <a:ext cx="10820400" cy="640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48"/>
                </a:lnSpc>
                <a:spcBef>
                  <a:spcPct val="0"/>
                </a:spcBef>
              </a:pPr>
              <a:r>
                <a:rPr lang="en-US" sz="303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5. What is a Header in UI design?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60741"/>
              <a:ext cx="10820400" cy="40776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A) The bottom-most element that contains navigation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B) A visual container displayed before the screen content, often containing titles or actions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C) A panel that slides out from the side</a:t>
              </a:r>
            </a:p>
            <a:p>
              <a:pPr marL="0" lvl="0" indent="0" algn="l">
                <a:lnSpc>
                  <a:spcPts val="3474"/>
                </a:lnSpc>
                <a:spcBef>
                  <a:spcPct val="0"/>
                </a:spcBef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D) A full-screen overlay for alerts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80238" y="4537493"/>
            <a:ext cx="7879062" cy="3246939"/>
            <a:chOff x="0" y="0"/>
            <a:chExt cx="10505416" cy="4329252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28575"/>
              <a:ext cx="10505416" cy="13039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48"/>
                </a:lnSpc>
                <a:spcBef>
                  <a:spcPct val="0"/>
                </a:spcBef>
              </a:pPr>
              <a:r>
                <a:rPr lang="en-US" sz="303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6. Which of the following is a typical use for a Footer in an app?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424144"/>
              <a:ext cx="10505416" cy="2905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A) Displaying a loading spinner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B) Showing persistent navigation or legal information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C) Showing user profile pictures</a:t>
              </a:r>
            </a:p>
            <a:p>
              <a:pPr marL="0" lvl="0" indent="0" algn="l">
                <a:lnSpc>
                  <a:spcPts val="3474"/>
                </a:lnSpc>
                <a:spcBef>
                  <a:spcPct val="0"/>
                </a:spcBef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D) Displaying a SnackBar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466680" y="4159825"/>
            <a:ext cx="314424" cy="352459"/>
          </a:xfrm>
          <a:custGeom>
            <a:avLst/>
            <a:gdLst/>
            <a:ahLst/>
            <a:cxnLst/>
            <a:rect l="l" t="t" r="r" b="b"/>
            <a:pathLst>
              <a:path w="314424" h="352459">
                <a:moveTo>
                  <a:pt x="0" y="0"/>
                </a:moveTo>
                <a:lnTo>
                  <a:pt x="314424" y="0"/>
                </a:lnTo>
                <a:lnTo>
                  <a:pt x="314424" y="352460"/>
                </a:lnTo>
                <a:lnTo>
                  <a:pt x="0" y="35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Freeform 14"/>
          <p:cNvSpPr/>
          <p:nvPr/>
        </p:nvSpPr>
        <p:spPr>
          <a:xfrm>
            <a:off x="8829576" y="6160963"/>
            <a:ext cx="314424" cy="352459"/>
          </a:xfrm>
          <a:custGeom>
            <a:avLst/>
            <a:gdLst/>
            <a:ahLst/>
            <a:cxnLst/>
            <a:rect l="l" t="t" r="r" b="b"/>
            <a:pathLst>
              <a:path w="314424" h="352459">
                <a:moveTo>
                  <a:pt x="0" y="0"/>
                </a:moveTo>
                <a:lnTo>
                  <a:pt x="314424" y="0"/>
                </a:lnTo>
                <a:lnTo>
                  <a:pt x="314424" y="352459"/>
                </a:lnTo>
                <a:lnTo>
                  <a:pt x="0" y="352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422" y="5061047"/>
            <a:ext cx="973346" cy="989431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422" y="7104494"/>
            <a:ext cx="973346" cy="989431"/>
          </a:xfrm>
          <a:prstGeom prst="rect">
            <a:avLst/>
          </a:prstGeom>
        </p:spPr>
      </p:pic>
      <p:sp>
        <p:nvSpPr>
          <p:cNvPr id="5" name="Freeform 5"/>
          <p:cNvSpPr/>
          <p:nvPr/>
        </p:nvSpPr>
        <p:spPr>
          <a:xfrm>
            <a:off x="13776561" y="2563812"/>
            <a:ext cx="3368856" cy="1163787"/>
          </a:xfrm>
          <a:custGeom>
            <a:avLst/>
            <a:gdLst/>
            <a:ahLst/>
            <a:cxnLst/>
            <a:rect l="l" t="t" r="r" b="b"/>
            <a:pathLst>
              <a:path w="3368856" h="1163787">
                <a:moveTo>
                  <a:pt x="0" y="0"/>
                </a:moveTo>
                <a:lnTo>
                  <a:pt x="3368856" y="0"/>
                </a:lnTo>
                <a:lnTo>
                  <a:pt x="3368856" y="1163786"/>
                </a:lnTo>
                <a:lnTo>
                  <a:pt x="0" y="1163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4681780" y="4042649"/>
            <a:ext cx="1925378" cy="1925378"/>
          </a:xfrm>
          <a:custGeom>
            <a:avLst/>
            <a:gdLst/>
            <a:ahLst/>
            <a:cxnLst/>
            <a:rect l="l" t="t" r="r" b="b"/>
            <a:pathLst>
              <a:path w="1925378" h="1925378">
                <a:moveTo>
                  <a:pt x="0" y="0"/>
                </a:moveTo>
                <a:lnTo>
                  <a:pt x="1925377" y="0"/>
                </a:lnTo>
                <a:lnTo>
                  <a:pt x="1925377" y="1925377"/>
                </a:lnTo>
                <a:lnTo>
                  <a:pt x="0" y="19253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028700" y="1283018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Practice Exercise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973193" y="981075"/>
            <a:ext cx="28610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2961" y="2789041"/>
            <a:ext cx="10171879" cy="2277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 to Github link repository (</a:t>
            </a:r>
            <a:r>
              <a:rPr lang="en-US" sz="2599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9" tooltip="https://github.com/Edocampa/II.3510_2526_Skills_G1_Navigation.git"/>
              </a:rPr>
              <a:t>link</a:t>
            </a: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)</a:t>
            </a:r>
          </a:p>
          <a:p>
            <a:pPr algn="ctr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Complete </a:t>
            </a:r>
            <a:r>
              <a:rPr lang="en-US" sz="25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TODO </a:t>
            </a: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comments to solve exercises: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325251" y="4932802"/>
            <a:ext cx="13319217" cy="3078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6"/>
              </a:lnSpc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Exercise 1:  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Add Tab "Playlists"</a:t>
            </a:r>
          </a:p>
          <a:p>
            <a:pPr algn="l">
              <a:lnSpc>
                <a:spcPts val="4616"/>
              </a:lnSpc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Goal: 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Repeat the used pattern to learn concepts in practice</a:t>
            </a: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Exercise 2: 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Add Bottom Navigation Bar</a:t>
            </a:r>
          </a:p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Goal: 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Create a new composable and coordinate multiple UI components</a:t>
            </a: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3563849" y="3323034"/>
            <a:ext cx="11160303" cy="2828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sz="8998" spc="-71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 </a:t>
            </a:r>
          </a:p>
          <a:p>
            <a:pPr algn="ctr">
              <a:lnSpc>
                <a:spcPts val="11248"/>
              </a:lnSpc>
            </a:pPr>
            <a:r>
              <a:rPr lang="en-US" sz="8998" spc="-71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for your attention</a:t>
            </a:r>
          </a:p>
        </p:txBody>
      </p:sp>
      <p:sp>
        <p:nvSpPr>
          <p:cNvPr id="4" name="AutoShape 4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5" name="AutoShape 5"/>
          <p:cNvSpPr/>
          <p:nvPr/>
        </p:nvSpPr>
        <p:spPr>
          <a:xfrm>
            <a:off x="-585133" y="9339262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5379298" y="7529740"/>
            <a:ext cx="1880002" cy="946837"/>
          </a:xfrm>
          <a:custGeom>
            <a:avLst/>
            <a:gdLst/>
            <a:ahLst/>
            <a:cxnLst/>
            <a:rect l="l" t="t" r="r" b="b"/>
            <a:pathLst>
              <a:path w="1880002" h="946837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629983" y="674930"/>
            <a:ext cx="797433" cy="707541"/>
          </a:xfrm>
          <a:custGeom>
            <a:avLst/>
            <a:gdLst/>
            <a:ahLst/>
            <a:cxnLst/>
            <a:rect l="l" t="t" r="r" b="b"/>
            <a:pathLst>
              <a:path w="797433" h="707541">
                <a:moveTo>
                  <a:pt x="0" y="0"/>
                </a:moveTo>
                <a:lnTo>
                  <a:pt x="797434" y="0"/>
                </a:lnTo>
                <a:lnTo>
                  <a:pt x="797434" y="707540"/>
                </a:lnTo>
                <a:lnTo>
                  <a:pt x="0" y="7075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565</Words>
  <Application>Microsoft Office PowerPoint</Application>
  <PresentationFormat>Personalizzato</PresentationFormat>
  <Paragraphs>112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1" baseType="lpstr">
      <vt:lpstr>Garet Bold</vt:lpstr>
      <vt:lpstr>Garet</vt:lpstr>
      <vt:lpstr>Calibri</vt:lpstr>
      <vt:lpstr>Archivo Black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Presentation_Skills_Navigation</dc:title>
  <cp:lastModifiedBy>Edoardo Campanella</cp:lastModifiedBy>
  <cp:revision>3</cp:revision>
  <dcterms:created xsi:type="dcterms:W3CDTF">2006-08-16T00:00:00Z</dcterms:created>
  <dcterms:modified xsi:type="dcterms:W3CDTF">2025-11-18T15:21:22Z</dcterms:modified>
  <dc:identifier>DAG3YZvW6VQ</dc:identifier>
</cp:coreProperties>
</file>